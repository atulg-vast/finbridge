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FinBridge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7D2FE"/>
                </a:solidFill>
                <a:latin typeface="Calibri"/>
              </a:rPr>
              <a:t>AI-Powered Financial Document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5B4FC"/>
                </a:solidFill>
                <a:latin typeface="Calibri"/>
              </a:rPr>
              <a:t>Replace WhatsApp invoicing with structured AI-powered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572000"/>
            <a:ext cx="2011680" cy="41148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  Hackathon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212080"/>
            <a:ext cx="2798064" cy="34747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230368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Claude claude-sonnet-4-6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75304" y="5212080"/>
            <a:ext cx="1010412" cy="34747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5230368"/>
            <a:ext cx="9189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2876" y="5212080"/>
            <a:ext cx="1536192" cy="34747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4316" y="5230368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React + Vite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96228" y="5212080"/>
            <a:ext cx="1325880" cy="34747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523036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59268" y="5212080"/>
            <a:ext cx="589788" cy="34747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0708" y="5230368"/>
            <a:ext cx="4983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F46E5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How financial documents flow today — and why it breaks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94960" cy="50292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Calibri"/>
              </a:rPr>
              <a:t>Today's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sz="1400">
                <a:solidFill>
                  <a:srgbClr val="7F1D1D"/>
                </a:solidFill>
                <a:latin typeface="Calibri"/>
              </a:rPr>
              <a:t>✗  Company WhatsApps invoice photo to accountant</a:t>
            </a:r>
          </a:p>
          <a:p>
            <a:pPr>
              <a:spcBef>
                <a:spcPts val="360"/>
              </a:spcBef>
            </a:pPr>
            <a:r>
              <a:rPr sz="1400">
                <a:solidFill>
                  <a:srgbClr val="7F1D1D"/>
                </a:solidFill>
                <a:latin typeface="Calibri"/>
              </a:rPr>
              <a:t>✗  Accountant manually re-types every field</a:t>
            </a:r>
          </a:p>
          <a:p>
            <a:pPr>
              <a:spcBef>
                <a:spcPts val="360"/>
              </a:spcBef>
            </a:pPr>
            <a:r>
              <a:rPr sz="1400">
                <a:solidFill>
                  <a:srgbClr val="7F1D1D"/>
                </a:solidFill>
                <a:latin typeface="Calibri"/>
              </a:rPr>
              <a:t>✗  No visibility — did they receive it?</a:t>
            </a:r>
          </a:p>
          <a:p>
            <a:pPr>
              <a:spcBef>
                <a:spcPts val="360"/>
              </a:spcBef>
            </a:pPr>
            <a:r>
              <a:rPr sz="1400">
                <a:solidFill>
                  <a:srgbClr val="7F1D1D"/>
                </a:solidFill>
                <a:latin typeface="Calibri"/>
              </a:rPr>
              <a:t>✗  Mistakes from manual entry go undetected</a:t>
            </a:r>
          </a:p>
          <a:p>
            <a:pPr>
              <a:spcBef>
                <a:spcPts val="360"/>
              </a:spcBef>
            </a:pPr>
            <a:r>
              <a:rPr sz="1400">
                <a:solidFill>
                  <a:srgbClr val="7F1D1D"/>
                </a:solidFill>
                <a:latin typeface="Calibri"/>
              </a:rPr>
              <a:t>✗  Duplicate invoices processed twice</a:t>
            </a:r>
          </a:p>
          <a:p>
            <a:pPr>
              <a:spcBef>
                <a:spcPts val="360"/>
              </a:spcBef>
            </a:pPr>
            <a:r>
              <a:rPr sz="1400">
                <a:solidFill>
                  <a:srgbClr val="7F1D1D"/>
                </a:solidFill>
                <a:latin typeface="Calibri"/>
              </a:rPr>
              <a:t>✗  50-employee salary register = 50 manual rows</a:t>
            </a:r>
          </a:p>
          <a:p>
            <a:pPr>
              <a:spcBef>
                <a:spcPts val="360"/>
              </a:spcBef>
            </a:pPr>
            <a:r>
              <a:rPr sz="1400">
                <a:solidFill>
                  <a:srgbClr val="7F1D1D"/>
                </a:solidFill>
                <a:latin typeface="Calibri"/>
              </a:rPr>
              <a:t>✗  Zero audit trail — no record of changes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The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→  Hours lost per week on data entry per accountant</a:t>
            </a:r>
          </a:p>
          <a:p>
            <a:pPr>
              <a:spcBef>
                <a:spcPts val="36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→  Errors in financial records → compliance risk</a:t>
            </a:r>
          </a:p>
          <a:p>
            <a:pPr>
              <a:spcBef>
                <a:spcPts val="36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→  No structured handoff → files lost in threads</a:t>
            </a:r>
          </a:p>
          <a:p>
            <a:pPr>
              <a:spcBef>
                <a:spcPts val="36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→  No status visibility → constant follow-up calls</a:t>
            </a:r>
          </a:p>
          <a:p>
            <a:pPr>
              <a:spcBef>
                <a:spcPts val="36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→  Impossible to scale — linear with document volume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F46E5"/>
                </a:solidFill>
                <a:latin typeface="Calibri"/>
              </a:rPr>
              <a:t>Our Solution — FinBridge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Structured AI-powered handoff between companies and their accounting 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2103120" cy="2926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11827"/>
                </a:solidFill>
                <a:latin typeface="Calibri"/>
              </a:rPr>
              <a:t>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97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Calibri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Company uploads PDF/image via portal or mobile 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8346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645920"/>
            <a:ext cx="2103120" cy="2926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11827"/>
                </a:solidFill>
                <a:latin typeface="Calibr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97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Calibri"/>
              </a:rPr>
              <a:t>AI 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1546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Claude vision extracts all fields with confidence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8346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645920"/>
            <a:ext cx="2103120" cy="2926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11827"/>
                </a:solidFill>
                <a:latin typeface="Calibri"/>
              </a:rPr>
              <a:t>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697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Calibri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1546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Accountant reviews, corrects amber-flagged fields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8346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1645920"/>
            <a:ext cx="2103120" cy="2926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11827"/>
                </a:solidFill>
                <a:latin typeface="Calibri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697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Calibri"/>
              </a:rPr>
              <a:t>Accept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546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Transaction accepted with payment head assigned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8346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645920"/>
            <a:ext cx="2103120" cy="2926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11827"/>
                </a:solidFill>
                <a:latin typeface="Calibri"/>
              </a:rPr>
              <a:t>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697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Calibri"/>
              </a:rPr>
              <a:t>Notify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1546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Company sees real-time status update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846320"/>
            <a:ext cx="11430000" cy="1554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440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  <a:latin typeface="Calibri"/>
              </a:rPr>
              <a:t>Document Types Supported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5440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  <a:latin typeface="Calibri"/>
              </a:rPr>
              <a:t>User Roles with RBAC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Real-time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5440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  <a:latin typeface="Calibri"/>
              </a:rPr>
              <a:t>Notifications via SSE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5440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  <a:latin typeface="Calibri"/>
              </a:rPr>
              <a:t>Audit Trail Coverage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PWA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5440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  <a:latin typeface="Calibri"/>
              </a:rPr>
              <a:t>Works on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F46E5"/>
                </a:solidFill>
                <a:latin typeface="Calibr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Production-grade design decisions — built to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Stack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00" cy="5303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83664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8366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React 18 + Vite + TypeScript + Tailwind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04872"/>
            <a:ext cx="5486400" cy="53035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5973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45973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React Query (server) + Zustand (client)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80944"/>
            <a:ext cx="5486400" cy="530352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0358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Python 3.12 + FastAPI + Pydantic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57016"/>
            <a:ext cx="5486400" cy="530352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118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6118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PostgreSQL 16 + SQLAlchemy 2.0 + Alembic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33088"/>
            <a:ext cx="5486400" cy="5303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879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18795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Claude claude-sonnet-4-6 — vision + tool_use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09160"/>
            <a:ext cx="5486400" cy="53035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76402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JWT (python-jose) + bcrypt — stateless RBAC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85232"/>
            <a:ext cx="5486400" cy="530352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34009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Real-time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34009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Server-Sent Events — no extra infra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861304"/>
            <a:ext cx="5486400" cy="530352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9161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PWA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591616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vite-plugin-pwa + Workbox service worker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Key Design Decisions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828800"/>
            <a:ext cx="5303520" cy="80467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1874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🔐 Tenant Isolation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17627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company_id injected from JWT server-side.
Client never sends tenant context.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724912"/>
            <a:ext cx="5303520" cy="80467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2770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🗄 DB-Driven Doc Types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07238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Claude prompt + field schema stored in DB.
New type = 1 SQL INSERT, zero code.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621024"/>
            <a:ext cx="5303520" cy="80467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6667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🤖 tool_use not plain 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96849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Forces Claude to return strict JSON schema.
No parsing, no hallucinated field names.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517136"/>
            <a:ext cx="5303520" cy="80467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45628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📡 SSE not WebSocket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86460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Unidirectional push — simpler infra.
Browser-native, no extra dependencies.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413248"/>
            <a:ext cx="5303520" cy="80467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5458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🆔 UUID Primary Keys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76072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sequential ID enumeration attacks.
All entities use uuid4.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F46E5"/>
                </a:solidFill>
                <a:latin typeface="Calibri"/>
              </a:rPr>
              <a:t>Two Layers of AI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Claude powers both document extraction and financial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51206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  <a:latin typeface="Calibri"/>
              </a:rPr>
              <a:t>📄  Document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Claude claude-sonnet-4-6 Vision + tool_use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sz="1300">
                <a:solidFill>
                  <a:srgbClr val="111827"/>
                </a:solidFill>
                <a:latin typeface="Calibri"/>
              </a:rPr>
              <a:t>•  Prompt template + field schema stored in DB per document type</a:t>
            </a:r>
          </a:p>
          <a:p>
            <a:pPr>
              <a:spcBef>
                <a:spcPts val="360"/>
              </a:spcBef>
            </a:pPr>
            <a:r>
              <a:rPr sz="1300">
                <a:solidFill>
                  <a:srgbClr val="111827"/>
                </a:solidFill>
                <a:latin typeface="Calibri"/>
              </a:rPr>
              <a:t>•  tool_use forces deterministic JSON — no parsing needed</a:t>
            </a:r>
          </a:p>
          <a:p>
            <a:pPr>
              <a:spcBef>
                <a:spcPts val="360"/>
              </a:spcBef>
            </a:pPr>
            <a:r>
              <a:rPr sz="1300">
                <a:solidFill>
                  <a:srgbClr val="111827"/>
                </a:solidFill>
                <a:latin typeface="Calibri"/>
              </a:rPr>
              <a:t>•  confidence_score + low_confidence_fields per transaction</a:t>
            </a:r>
          </a:p>
          <a:p>
            <a:pPr>
              <a:spcBef>
                <a:spcPts val="360"/>
              </a:spcBef>
            </a:pPr>
            <a:r>
              <a:rPr sz="1300">
                <a:solidFill>
                  <a:srgbClr val="111827"/>
                </a:solidFill>
                <a:latin typeface="Calibri"/>
              </a:rPr>
              <a:t>•  Native PDF support (no image conversion needed)</a:t>
            </a:r>
          </a:p>
          <a:p>
            <a:pPr>
              <a:spcBef>
                <a:spcPts val="360"/>
              </a:spcBef>
            </a:pPr>
            <a:r>
              <a:rPr sz="1300">
                <a:solidFill>
                  <a:srgbClr val="111827"/>
                </a:solidFill>
                <a:latin typeface="Calibri"/>
              </a:rPr>
              <a:t>•  6 document types: Invoice, Salary, Bank Statement, and more</a:t>
            </a:r>
          </a:p>
          <a:p>
            <a:pPr>
              <a:spcBef>
                <a:spcPts val="360"/>
              </a:spcBef>
            </a:pPr>
            <a:r>
              <a:rPr sz="1300">
                <a:solidFill>
                  <a:srgbClr val="111827"/>
                </a:solidFill>
                <a:latin typeface="Calibri"/>
              </a:rPr>
              <a:t>•  Adding a new type = 1 SQL INSERT, zero code changes</a:t>
            </a:r>
          </a:p>
          <a:p>
            <a:pPr>
              <a:spcBef>
                <a:spcPts val="360"/>
              </a:spcBef>
            </a:pPr>
            <a:r>
              <a:rPr sz="1300">
                <a:solidFill>
                  <a:srgbClr val="111827"/>
                </a:solidFill>
                <a:latin typeface="Calibri"/>
              </a:rPr>
              <a:t>•  Full raw_ai_output stored for audit and debugging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486400" cy="51206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Calibri"/>
              </a:rPr>
              <a:t>✨  AI Insights 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Pre-built queries + Claude natural language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2316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sz="1300">
                <a:solidFill>
                  <a:srgbClr val="111827"/>
                </a:solidFill>
                <a:latin typeface="Calibri"/>
              </a:rPr>
              <a:t>•  7 pre-built financial queries — no Text-to-SQL hallucination risk</a:t>
            </a:r>
          </a:p>
          <a:p>
            <a:pPr>
              <a:spcBef>
                <a:spcPts val="360"/>
              </a:spcBef>
            </a:pPr>
            <a:r>
              <a:rPr sz="1300">
                <a:solidFill>
                  <a:srgbClr val="111827"/>
                </a:solidFill>
                <a:latin typeface="Calibri"/>
              </a:rPr>
              <a:t>•  company_id injected server-side — tenant isolation guaranteed</a:t>
            </a:r>
          </a:p>
          <a:p>
            <a:pPr>
              <a:spcBef>
                <a:spcPts val="360"/>
              </a:spcBef>
            </a:pPr>
            <a:r>
              <a:rPr sz="1300">
                <a:solidFill>
                  <a:srgbClr val="111827"/>
                </a:solidFill>
                <a:latin typeface="Calibri"/>
              </a:rPr>
              <a:t>•  Claude explains results in 2-3 plain English sentences</a:t>
            </a:r>
          </a:p>
          <a:p>
            <a:pPr>
              <a:spcBef>
                <a:spcPts val="360"/>
              </a:spcBef>
            </a:pPr>
            <a:r>
              <a:rPr sz="1300">
                <a:solidFill>
                  <a:srgbClr val="111827"/>
                </a:solidFill>
                <a:latin typeface="Calibri"/>
              </a:rPr>
              <a:t>•  Pending &gt; ₹1 Lakh  |  Spend by Head  |  Top Vendors</a:t>
            </a:r>
          </a:p>
          <a:p>
            <a:pPr>
              <a:spcBef>
                <a:spcPts val="360"/>
              </a:spcBef>
            </a:pPr>
            <a:r>
              <a:rPr sz="1300">
                <a:solidFill>
                  <a:srgbClr val="111827"/>
                </a:solidFill>
                <a:latin typeface="Calibri"/>
              </a:rPr>
              <a:t>•  Low Confidence  |  Rejected + Reasons  |  Monthly Trend</a:t>
            </a:r>
          </a:p>
          <a:p>
            <a:pPr>
              <a:spcBef>
                <a:spcPts val="360"/>
              </a:spcBef>
            </a:pPr>
            <a:r>
              <a:rPr sz="1300">
                <a:solidFill>
                  <a:srgbClr val="111827"/>
                </a:solidFill>
                <a:latin typeface="Calibri"/>
              </a:rPr>
              <a:t>•  Floats on every portal — company, accountant, firm admin</a:t>
            </a:r>
          </a:p>
          <a:p>
            <a:pPr>
              <a:spcBef>
                <a:spcPts val="360"/>
              </a:spcBef>
            </a:pPr>
            <a:r>
              <a:rPr sz="1300">
                <a:solidFill>
                  <a:srgbClr val="111827"/>
                </a:solidFill>
                <a:latin typeface="Calibri"/>
              </a:rPr>
              <a:t>•  React Portal ensures widget renders outside flex containers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92608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Calibri"/>
              </a:rPr>
              <a:t>VS
Text-to-SQL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F46E5"/>
                </a:solidFill>
                <a:latin typeface="Calibri"/>
              </a:rPr>
              <a:t>End-to-End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Full workflow visible in under 90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44752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44752"/>
            <a:ext cx="23774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630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admin@techcorp.com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4630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Upload PDF invoice via drag-and-drop or mobile camera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39696"/>
            <a:ext cx="4114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12264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139696"/>
            <a:ext cx="23774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1579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System (Claude)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157984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Status: pending → processing → extracted in real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34640"/>
            <a:ext cx="41148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807208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834640"/>
            <a:ext cx="23774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852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Calibri"/>
              </a:rPr>
              <a:t>accountant1@apex.com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852928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Bell notification — open Review Queue, see amber-flagged fields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29584"/>
            <a:ext cx="4114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502152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529584"/>
            <a:ext cx="23774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5478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accountant1@apex.com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547872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Correct fields, assign payment head, click Accept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24528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197096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224528"/>
            <a:ext cx="23774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2428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admin@techcorp.com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242816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Bell notification: 'Transaction accepted' — status updated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919472"/>
            <a:ext cx="411480" cy="4114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892040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919472"/>
            <a:ext cx="23774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9377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firm@apexaccounting.com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9377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Audit Trail shows every action with user + timestamp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614416"/>
            <a:ext cx="4114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586984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5614416"/>
            <a:ext cx="23774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6327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Any 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5632704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Click ✨ Ask AI → 'Pending &gt; ₹1 Lakh' → Claude explains live DB results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263640"/>
            <a:ext cx="1143000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281928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Demo credentials — TechCorp Admin: admin@techcorp.com / Tech@1234   |   Accountant: accountant1@apex.com / Acc@1234   |   Firm Admin: firm@apexaccounting.com / Firm@1234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F46E5"/>
                </a:solidFill>
                <a:latin typeface="Calibri"/>
              </a:rPr>
              <a:t>What We'd Build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The foundation is production-ready — here's the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103120" cy="43891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0" y="1508760"/>
            <a:ext cx="77724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50876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Calibri"/>
              </a:rPr>
              <a:t>☁️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Calibri"/>
              </a:rPr>
              <a:t>S3 File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090672"/>
            <a:ext cx="18836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Replace local uploads/ with AWS S3. Already abstracted behind UPLOAD_DIR — a config change.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463040"/>
            <a:ext cx="2103120" cy="43891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508760"/>
            <a:ext cx="77724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150876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87451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Calibri"/>
              </a:rPr>
              <a:t>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5146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Calibri"/>
              </a:rPr>
              <a:t>GST Validation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090672"/>
            <a:ext cx="18836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Auto-verify GSTIN against government API. Flag mismatches before accountant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463040"/>
            <a:ext cx="2103120" cy="43891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508760"/>
            <a:ext cx="77724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0876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87451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Calibri"/>
              </a:rPr>
              <a:t>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5146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Calibri"/>
              </a:rPr>
              <a:t>WhatsApp 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090672"/>
            <a:ext cx="18836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Company sends bill photo to a WhatsApp number → auto-extracted and loaded into FinBridge. Removes portal upload entirely.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1463040"/>
            <a:ext cx="2103120" cy="43891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0" y="1508760"/>
            <a:ext cx="77724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50876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Global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187451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Calibri"/>
              </a:rPr>
              <a:t>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5146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Calibri"/>
              </a:rPr>
              <a:t>Multi-Currency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3090672"/>
            <a:ext cx="18836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Handle USD/EUR invoices. Store original currency, display INR equivalent via live exchange rates.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0" y="1463040"/>
            <a:ext cx="2103120" cy="43891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55680" y="1508760"/>
            <a:ext cx="77724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0" y="150876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187451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Calibri"/>
              </a:rPr>
              <a:t>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5146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Calibri"/>
              </a:rPr>
              <a:t>ML Payment Head Suggestions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5248" y="3090672"/>
            <a:ext cx="18836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Train on accepted transactions. Auto-suggest payment heads — learns from every accountant correction.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080760"/>
            <a:ext cx="11430000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1264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Built in a hackathon — designed for production. Multi-tenant RBAC, real-time SSE, PWA-ready, audit-complete, AI at the core.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